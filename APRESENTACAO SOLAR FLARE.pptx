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8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6747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Comece com a pergunta. Deixe ela no ar por um momento antes de continuar.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são reais. Pause após 'US$ 2 bilhões'. Um sistema de alerta de 24h teria mudado 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967BE-907D-34B5-C278-4F32B9D77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21BA2D-0904-5B12-2F28-0D9EC53500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6D86CB-A07D-2FDA-8BCD-7D71EFC95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são reais. Pause após 'US$ 2 bilhões'. Um sistema de alerta de 24h teria mudado tudo.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B4ECC-31FF-546A-350F-57C51E5ACA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478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features físicas observadas no Sol. Todas capturadas antes do evento — o desafio é prever o futuro a partir delas.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as células vermelhas. A diferença entre Zurich A / área 1 e Zurich F / área 5 é de quase 18×.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é o coração do trabalho. As regras são memoráveis e acionáveis sem ML. Um operador pode usar isso num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slide responde diretamente o enunciado. FN = catastrófico. FP = inconveniente.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modelo com F1=0.65 e threshold 0.28 protege mais infraestrutura que F1=0.75 com threshold 0.5.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Termine com a pergunta do título. A resposta está nos três pontos.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05080F">
              <a:alpha val="75000"/>
            </a:srgbClr>
          </a:solidFill>
          <a:ln w="12700">
            <a:solidFill>
              <a:srgbClr val="05080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11480" y="347472"/>
            <a:ext cx="2926080" cy="329184"/>
          </a:xfrm>
          <a:prstGeom prst="roundRect">
            <a:avLst>
              <a:gd name="adj" fmla="val 13889"/>
            </a:avLst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GLOBAL SOLUTION · FIAP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5669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o Perfil das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Regiões Solares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Alto Risco?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11480" y="310896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como calibrar um sistema de alerta que minimize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real e não apenas maximize a acurácia?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3913632"/>
            <a:ext cx="2057400" cy="1051560"/>
          </a:xfrm>
          <a:prstGeom prst="roundRect">
            <a:avLst>
              <a:gd name="adj" fmla="val 8696"/>
            </a:avLst>
          </a:prstGeom>
          <a:solidFill>
            <a:srgbClr val="0D1525"/>
          </a:solidFill>
          <a:ln w="19050">
            <a:solidFill>
              <a:srgbClr val="E8611A"/>
            </a:solidFill>
            <a:prstDash val="solid"/>
          </a:ln>
          <a:effectLst>
            <a:outerShdw blurRad="1270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84048" y="3950208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0.647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84048" y="446227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Melhor Modelo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78608" y="3913632"/>
            <a:ext cx="2057400" cy="1051560"/>
          </a:xfrm>
          <a:prstGeom prst="roundRect">
            <a:avLst>
              <a:gd name="adj" fmla="val 8696"/>
            </a:avLst>
          </a:prstGeom>
          <a:solidFill>
            <a:srgbClr val="0D1525"/>
          </a:solidFill>
          <a:ln w="19050">
            <a:solidFill>
              <a:srgbClr val="E8611A"/>
            </a:solidFill>
            <a:prstDash val="solid"/>
          </a:ln>
          <a:effectLst>
            <a:outerShdw blurRad="1270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578608" y="3950208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0.658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578608" y="446227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ROC-AUC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73168" y="3913632"/>
            <a:ext cx="2057400" cy="1051560"/>
          </a:xfrm>
          <a:prstGeom prst="roundRect">
            <a:avLst>
              <a:gd name="adj" fmla="val 8696"/>
            </a:avLst>
          </a:prstGeom>
          <a:solidFill>
            <a:srgbClr val="0D1525"/>
          </a:solidFill>
          <a:ln w="19050">
            <a:solidFill>
              <a:srgbClr val="E8611A"/>
            </a:solidFill>
            <a:prstDash val="solid"/>
          </a:ln>
          <a:effectLst>
            <a:outerShdw blurRad="1270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773168" y="3950208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+ 1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73168" y="446227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Modelos ML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67728" y="3913632"/>
            <a:ext cx="2057400" cy="1051560"/>
          </a:xfrm>
          <a:prstGeom prst="roundRect">
            <a:avLst>
              <a:gd name="adj" fmla="val 8696"/>
            </a:avLst>
          </a:prstGeom>
          <a:solidFill>
            <a:srgbClr val="0D1525"/>
          </a:solidFill>
          <a:ln w="19050">
            <a:solidFill>
              <a:srgbClr val="E8611A"/>
            </a:solidFill>
            <a:prstDash val="solid"/>
          </a:ln>
          <a:effectLst>
            <a:outerShdw blurRad="1270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967728" y="3950208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1.066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967728" y="446227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Observações UCI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Março de 1989 — o Sol atacou sem aviso.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84048" y="13258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0D1525"/>
          </a:solidFill>
          <a:ln w="19050">
            <a:solidFill>
              <a:srgbClr val="C62828"/>
            </a:solidFill>
            <a:prstDash val="solid"/>
          </a:ln>
          <a:effectLst>
            <a:outerShdw blurRad="1270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84048" y="1463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milhões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84048" y="2331720"/>
            <a:ext cx="2651760" cy="1097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1D5DB"/>
                </a:solidFill>
              </a:rPr>
              <a:t>pessoas sem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D1D5DB"/>
                </a:solidFill>
              </a:rPr>
              <a:t>eletricidade no Canadá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18688" y="13258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0D1525"/>
          </a:solidFill>
          <a:ln w="19050">
            <a:solidFill>
              <a:srgbClr val="E8611A"/>
            </a:solidFill>
            <a:prstDash val="solid"/>
          </a:ln>
          <a:effectLst>
            <a:outerShdw blurRad="1270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218688" y="1463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6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horas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18688" y="2331720"/>
            <a:ext cx="2651760" cy="1097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1D5DB"/>
                </a:solidFill>
              </a:rPr>
              <a:t>de apagão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D1D5DB"/>
                </a:solidFill>
              </a:rPr>
              <a:t>consecutivo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53328" y="13258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0D1525"/>
          </a:solidFill>
          <a:ln w="19050">
            <a:solidFill>
              <a:srgbClr val="F9A825"/>
            </a:solidFill>
            <a:prstDash val="solid"/>
          </a:ln>
          <a:effectLst>
            <a:outerShdw blurRad="1270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053328" y="1463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9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US$ 2 bi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053328" y="2331720"/>
            <a:ext cx="2651760" cy="1097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1D5DB"/>
                </a:solidFill>
              </a:rPr>
              <a:t>em prejuízos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D1D5DB"/>
                </a:solidFill>
              </a:rPr>
              <a:t>totais</a:t>
            </a:r>
            <a:endParaRPr lang="en-US" sz="1300" dirty="0"/>
          </a:p>
        </p:txBody>
      </p:sp>
      <p:pic>
        <p:nvPicPr>
          <p:cNvPr id="13" name="Image 0" descr="/home/claude/p1_aber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703320"/>
            <a:ext cx="8375904" cy="12618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FF18D9-56DA-A601-3315-AFE301516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BB89BA0-D63B-1172-9FB7-64B12929E7CB}"/>
              </a:ext>
            </a:extLst>
          </p:cNvPr>
          <p:cNvSpPr/>
          <p:nvPr/>
        </p:nvSpPr>
        <p:spPr>
          <a:xfrm>
            <a:off x="411480" y="2560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8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DA77852-81E7-3FAD-B9EF-A1C9681EF620}"/>
              </a:ext>
            </a:extLst>
          </p:cNvPr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69BE7E6-F9DF-C044-A5C0-734C1E8FB427}"/>
              </a:ext>
            </a:extLst>
          </p:cNvPr>
          <p:cNvSpPr/>
          <p:nvPr/>
        </p:nvSpPr>
        <p:spPr>
          <a:xfrm>
            <a:off x="384048" y="1463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67F65CD-7339-5419-47E8-E5531E3C8E34}"/>
              </a:ext>
            </a:extLst>
          </p:cNvPr>
          <p:cNvSpPr/>
          <p:nvPr/>
        </p:nvSpPr>
        <p:spPr>
          <a:xfrm>
            <a:off x="384048" y="2331720"/>
            <a:ext cx="2651760" cy="1097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69FABFD-9F78-D563-F57E-40CAEA53E05E}"/>
              </a:ext>
            </a:extLst>
          </p:cNvPr>
          <p:cNvSpPr/>
          <p:nvPr/>
        </p:nvSpPr>
        <p:spPr>
          <a:xfrm>
            <a:off x="3218688" y="1463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CEEA158-0528-C4AF-86F1-B544F2CED252}"/>
              </a:ext>
            </a:extLst>
          </p:cNvPr>
          <p:cNvSpPr/>
          <p:nvPr/>
        </p:nvSpPr>
        <p:spPr>
          <a:xfrm>
            <a:off x="3218688" y="2331720"/>
            <a:ext cx="2651760" cy="1097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2A31962-84B8-6325-A0C5-89CB9E4099A1}"/>
              </a:ext>
            </a:extLst>
          </p:cNvPr>
          <p:cNvSpPr/>
          <p:nvPr/>
        </p:nvSpPr>
        <p:spPr>
          <a:xfrm>
            <a:off x="6053328" y="1463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3879F97-CD7F-34DC-8685-C891274BD34A}"/>
              </a:ext>
            </a:extLst>
          </p:cNvPr>
          <p:cNvSpPr/>
          <p:nvPr/>
        </p:nvSpPr>
        <p:spPr>
          <a:xfrm>
            <a:off x="6053328" y="2331720"/>
            <a:ext cx="2651760" cy="1097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endParaRPr lang="en-US" sz="1300" dirty="0"/>
          </a:p>
        </p:txBody>
      </p:sp>
      <p:pic>
        <p:nvPicPr>
          <p:cNvPr id="13" name="Image 0" descr="/home/claude/p1_abertura.png">
            <a:extLst>
              <a:ext uri="{FF2B5EF4-FFF2-40B4-BE49-F238E27FC236}">
                <a16:creationId xmlns:a16="http://schemas.microsoft.com/office/drawing/2014/main" id="{0DE009BD-31C7-4DBB-21E9-0A0121CAE5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548640"/>
            <a:ext cx="8375904" cy="433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860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UCI Solar Flare Dataset — 1.066 regiões ativas do Sol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84048" y="13258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D1525"/>
          </a:solidFill>
          <a:ln w="19050">
            <a:solidFill>
              <a:srgbClr val="E8611A"/>
            </a:solidFill>
            <a:prstDash val="solid"/>
          </a:ln>
          <a:effectLst>
            <a:outerShdw blurRad="1270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21208" y="1508760"/>
            <a:ext cx="274320" cy="274320"/>
          </a:xfrm>
          <a:prstGeom prst="ellipse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86968" y="1453896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Classe Zurich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1208" y="1920240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</a:rPr>
              <a:t>A → F  Morfologia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</a:rPr>
              <a:t>do grupo de manchas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18688" y="13258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D1525"/>
          </a:solidFill>
          <a:ln w="19050">
            <a:solidFill>
              <a:srgbClr val="1565C0"/>
            </a:solidFill>
            <a:prstDash val="solid"/>
          </a:ln>
          <a:effectLst>
            <a:outerShdw blurRad="1270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355848" y="1508760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721608" y="1453896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Tamanho da Mancha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55848" y="1920240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</a:rPr>
              <a:t>X,R,S,A,H,K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</a:rPr>
              <a:t>Campo magnético local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53328" y="13258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D1525"/>
          </a:solidFill>
          <a:ln w="19050">
            <a:solidFill>
              <a:srgbClr val="2E7D32"/>
            </a:solidFill>
            <a:prstDash val="solid"/>
          </a:ln>
          <a:effectLst>
            <a:outerShdw blurRad="1270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190488" y="1508760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556248" y="1453896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Distribuição Espacial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90488" y="1920240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</a:rPr>
              <a:t>X,O,I,C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</a:rPr>
              <a:t>Compacidade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28803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D1525"/>
          </a:solidFill>
          <a:ln w="19050">
            <a:solidFill>
              <a:srgbClr val="C62828"/>
            </a:solidFill>
            <a:prstDash val="solid"/>
          </a:ln>
          <a:effectLst>
            <a:outerShdw blurRad="1270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521208" y="3063240"/>
            <a:ext cx="274320" cy="27432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86968" y="3008376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Área da Região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" y="3474720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</a:rPr>
              <a:t>1 → 5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</a:rPr>
              <a:t>Energia acumulada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18688" y="28803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D1525"/>
          </a:solidFill>
          <a:ln w="19050">
            <a:solidFill>
              <a:srgbClr val="F9A825"/>
            </a:solidFill>
            <a:prstDash val="solid"/>
          </a:ln>
          <a:effectLst>
            <a:outerShdw blurRad="1270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355848" y="3063240"/>
            <a:ext cx="274320" cy="27432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721608" y="3008376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Evolução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5848" y="3474720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</a:rPr>
              <a:t>Decr / Est / Cresc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</a:rPr>
              <a:t>Dinâmica temporal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53328" y="28803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D1525"/>
          </a:solidFill>
          <a:ln w="19050">
            <a:solidFill>
              <a:srgbClr val="6A1B9A"/>
            </a:solidFill>
            <a:prstDash val="solid"/>
          </a:ln>
          <a:effectLst>
            <a:outerShdw blurRad="1270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6190488" y="3063240"/>
            <a:ext cx="274320" cy="27432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556248" y="3008376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Atividade Anterior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90488" y="3474720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</a:rPr>
              <a:t>24h prévias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</a:rPr>
              <a:t>Memória solar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4048" y="4636008"/>
            <a:ext cx="8375904" cy="365760"/>
          </a:xfrm>
          <a:prstGeom prst="roundRect">
            <a:avLst>
              <a:gd name="adj" fmla="val 15000"/>
            </a:avLst>
          </a:prstGeom>
          <a:solidFill>
            <a:srgbClr val="1A0A05"/>
          </a:solidFill>
          <a:ln w="19050">
            <a:solidFill>
              <a:srgbClr val="E8611A"/>
            </a:solidFill>
            <a:prstDash val="solid"/>
          </a:ln>
          <a:effectLst>
            <a:outerShdw blurRad="1270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384048" y="4636008"/>
            <a:ext cx="8375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11A"/>
                </a:solidFill>
              </a:rPr>
              <a:t>TARGET  →  flare_occurred: ocorreu qualquer flare nas próximas 24 horas?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estão as regiões perigosas?</a:t>
            </a:r>
            <a:endParaRPr lang="en-US" sz="2400" dirty="0"/>
          </a:p>
        </p:txBody>
      </p:sp>
      <p:pic>
        <p:nvPicPr>
          <p:cNvPr id="4" name="Image 0" descr="/home/claude/p2_mapas_ris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298448"/>
            <a:ext cx="8595360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" y="4636008"/>
            <a:ext cx="8375904" cy="365760"/>
          </a:xfrm>
          <a:prstGeom prst="roundRect">
            <a:avLst>
              <a:gd name="adj" fmla="val 15000"/>
            </a:avLst>
          </a:prstGeom>
          <a:solidFill>
            <a:srgbClr val="1A0A05"/>
          </a:solidFill>
          <a:ln w="19050">
            <a:solidFill>
              <a:srgbClr val="E8611A"/>
            </a:solidFill>
            <a:prstDash val="solid"/>
          </a:ln>
          <a:effectLst>
            <a:outerShdw blurRad="1270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384048" y="4636008"/>
            <a:ext cx="8375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11A"/>
                </a:solidFill>
              </a:rPr>
              <a:t>Zurich F + Área 5 + Evolução Crescente → probabilidade de flare acima de 90%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PERFIL DE RISCO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interpretáveis — sem necessidade de ML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1298448"/>
            <a:ext cx="2029968" cy="3657600"/>
          </a:xfrm>
          <a:prstGeom prst="roundRect">
            <a:avLst>
              <a:gd name="adj" fmla="val 4505"/>
            </a:avLst>
          </a:prstGeom>
          <a:solidFill>
            <a:srgbClr val="200808"/>
          </a:solidFill>
          <a:ln w="19050">
            <a:solidFill>
              <a:srgbClr val="C62828"/>
            </a:solidFill>
            <a:prstDash val="solid"/>
          </a:ln>
          <a:effectLst>
            <a:outerShdw blurRad="1270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47472" y="141732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C62828"/>
                </a:solidFill>
              </a:rPr>
              <a:t>🔴 ZONA CRÍTICA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1773936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CA3AF"/>
                </a:solidFill>
              </a:rPr>
              <a:t>Risco Máximo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</a:rPr>
              <a:t>• Zurich: E ou F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</a:rPr>
              <a:t>• Área ≥ 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</a:rPr>
              <a:t>• Qualquer evolução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3218688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47472" y="3858768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</a:rPr>
              <a:t>47 obs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39496" y="4617720"/>
            <a:ext cx="1645920" cy="164592"/>
          </a:xfrm>
          <a:prstGeom prst="roundRect">
            <a:avLst>
              <a:gd name="adj" fmla="val 27778"/>
            </a:avLst>
          </a:prstGeom>
          <a:solidFill>
            <a:srgbClr val="1E2535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39496" y="4617720"/>
            <a:ext cx="1349654" cy="164592"/>
          </a:xfrm>
          <a:prstGeom prst="roundRect">
            <a:avLst>
              <a:gd name="adj" fmla="val 27778"/>
            </a:avLst>
          </a:prstGeom>
          <a:solidFill>
            <a:srgbClr val="C62828">
              <a:alpha val="80000"/>
            </a:srgbClr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2523744" y="1298448"/>
            <a:ext cx="2029968" cy="3657600"/>
          </a:xfrm>
          <a:prstGeom prst="roundRect">
            <a:avLst>
              <a:gd name="adj" fmla="val 4505"/>
            </a:avLst>
          </a:prstGeom>
          <a:solidFill>
            <a:srgbClr val="1E1005"/>
          </a:solidFill>
          <a:ln w="19050">
            <a:solidFill>
              <a:srgbClr val="E8611A"/>
            </a:solidFill>
            <a:prstDash val="solid"/>
          </a:ln>
          <a:effectLst>
            <a:outerShdw blurRad="1270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2523744" y="141732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E8611A"/>
                </a:solidFill>
              </a:rPr>
              <a:t>🟠 ZONA DE ALERTA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23744" y="1773936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CA3AF"/>
                </a:solidFill>
              </a:rPr>
              <a:t>Risco Alto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33472" y="210312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</a:rPr>
              <a:t>• Zurich: C ou 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33472" y="246888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</a:rPr>
              <a:t>• Área ≥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33472" y="283464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</a:rPr>
              <a:t>• Atividade crescente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23744" y="3218688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6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2523744" y="3858768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</a:rPr>
              <a:t>118 obs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15768" y="4617720"/>
            <a:ext cx="1645920" cy="164592"/>
          </a:xfrm>
          <a:prstGeom prst="roundRect">
            <a:avLst>
              <a:gd name="adj" fmla="val 27778"/>
            </a:avLst>
          </a:prstGeom>
          <a:solidFill>
            <a:srgbClr val="1E2535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2715768" y="4617720"/>
            <a:ext cx="1053389" cy="164592"/>
          </a:xfrm>
          <a:prstGeom prst="roundRect">
            <a:avLst>
              <a:gd name="adj" fmla="val 27778"/>
            </a:avLst>
          </a:prstGeom>
          <a:solidFill>
            <a:srgbClr val="E8611A">
              <a:alpha val="80000"/>
            </a:srgbClr>
          </a:solidFill>
          <a:ln w="12700">
            <a:solidFill>
              <a:srgbClr val="E861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4700016" y="1298448"/>
            <a:ext cx="2029968" cy="3657600"/>
          </a:xfrm>
          <a:prstGeom prst="roundRect">
            <a:avLst>
              <a:gd name="adj" fmla="val 4505"/>
            </a:avLst>
          </a:prstGeom>
          <a:solidFill>
            <a:srgbClr val="1A1505"/>
          </a:solidFill>
          <a:ln w="19050">
            <a:solidFill>
              <a:srgbClr val="B45309"/>
            </a:solidFill>
            <a:prstDash val="solid"/>
          </a:ln>
          <a:effectLst>
            <a:outerShdw blurRad="1270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700016" y="141732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B45309"/>
                </a:solidFill>
              </a:rPr>
              <a:t>🟡 ZONA MODERADA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0016" y="1773936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CA3AF"/>
                </a:solidFill>
              </a:rPr>
              <a:t>Risco Médio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09744" y="210312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</a:rPr>
              <a:t>• Zurich: B ou 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09744" y="246888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</a:rPr>
              <a:t>• Área ≤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09744" y="283464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</a:rPr>
              <a:t>• Prev. atividade ≥ 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0016" y="3218688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41%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4700016" y="3858768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</a:rPr>
              <a:t>203 obs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92040" y="4617720"/>
            <a:ext cx="1645920" cy="164592"/>
          </a:xfrm>
          <a:prstGeom prst="roundRect">
            <a:avLst>
              <a:gd name="adj" fmla="val 27778"/>
            </a:avLst>
          </a:prstGeom>
          <a:solidFill>
            <a:srgbClr val="1E2535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4892040" y="4617720"/>
            <a:ext cx="674827" cy="164592"/>
          </a:xfrm>
          <a:prstGeom prst="roundRect">
            <a:avLst>
              <a:gd name="adj" fmla="val 27778"/>
            </a:avLst>
          </a:prstGeom>
          <a:solidFill>
            <a:srgbClr val="B45309">
              <a:alpha val="80000"/>
            </a:srgbClr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6876288" y="1298448"/>
            <a:ext cx="2029968" cy="3657600"/>
          </a:xfrm>
          <a:prstGeom prst="roundRect">
            <a:avLst>
              <a:gd name="adj" fmla="val 4505"/>
            </a:avLst>
          </a:prstGeom>
          <a:solidFill>
            <a:srgbClr val="071508"/>
          </a:solidFill>
          <a:ln w="19050">
            <a:solidFill>
              <a:srgbClr val="2E7D32"/>
            </a:solidFill>
            <a:prstDash val="solid"/>
          </a:ln>
          <a:effectLst>
            <a:outerShdw blurRad="1270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876288" y="141732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2E7D32"/>
                </a:solidFill>
              </a:rPr>
              <a:t>🟢 ZONA SEGURA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76288" y="1773936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CA3AF"/>
                </a:solidFill>
              </a:rPr>
              <a:t>Risco Baixo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986016" y="210312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</a:rPr>
              <a:t>• Zurich: A ou B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86016" y="246888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</a:rPr>
              <a:t>• Área ≤ 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86016" y="283464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</a:rPr>
              <a:t>• Evolução estável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76288" y="3218688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14%</a:t>
            </a:r>
            <a:endParaRPr lang="en-US" sz="3400" dirty="0"/>
          </a:p>
        </p:txBody>
      </p:sp>
      <p:sp>
        <p:nvSpPr>
          <p:cNvPr id="41" name="Text 39"/>
          <p:cNvSpPr/>
          <p:nvPr/>
        </p:nvSpPr>
        <p:spPr>
          <a:xfrm>
            <a:off x="6876288" y="3858768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</a:rPr>
              <a:t>284 obs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068312" y="4617720"/>
            <a:ext cx="1645920" cy="164592"/>
          </a:xfrm>
          <a:prstGeom prst="roundRect">
            <a:avLst>
              <a:gd name="adj" fmla="val 27778"/>
            </a:avLst>
          </a:prstGeom>
          <a:solidFill>
            <a:srgbClr val="1E2535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7068312" y="4617720"/>
            <a:ext cx="230429" cy="164592"/>
          </a:xfrm>
          <a:prstGeom prst="roundRect">
            <a:avLst>
              <a:gd name="adj" fmla="val 27778"/>
            </a:avLst>
          </a:prstGeom>
          <a:solidFill>
            <a:srgbClr val="2E7D32">
              <a:alpha val="80000"/>
            </a:srgbClr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MAIS IMPORTANTE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erro é mais grave?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84048" y="1298448"/>
            <a:ext cx="3977640" cy="2926080"/>
          </a:xfrm>
          <a:prstGeom prst="roundRect">
            <a:avLst>
              <a:gd name="adj" fmla="val 3125"/>
            </a:avLst>
          </a:prstGeom>
          <a:solidFill>
            <a:srgbClr val="1A0505"/>
          </a:solidFill>
          <a:ln w="19050">
            <a:solidFill>
              <a:srgbClr val="C62828"/>
            </a:solidFill>
            <a:prstDash val="solid"/>
          </a:ln>
          <a:effectLst>
            <a:outerShdw blurRad="1270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84048" y="141732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C62828"/>
                </a:solidFill>
              </a:rPr>
              <a:t>FALSO NEGATIVO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84048" y="175564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CA3AF"/>
                </a:solidFill>
              </a:rPr>
              <a:t>Flare real não previsto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212140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1D5DB"/>
                </a:solidFill>
              </a:rPr>
              <a:t>• Satélite não entra em modo seguro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251460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1D5DB"/>
                </a:solidFill>
              </a:rPr>
              <a:t>• Dano irreversível ao hardware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90779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1D5DB"/>
                </a:solidFill>
              </a:rPr>
              <a:t>• Rede elétrica sem proteção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330098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1D5DB"/>
                </a:solidFill>
              </a:rPr>
              <a:t>• Potencial apagão em massa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3822192"/>
            <a:ext cx="3611880" cy="292608"/>
          </a:xfrm>
          <a:prstGeom prst="roundRect">
            <a:avLst>
              <a:gd name="adj" fmla="val 15625"/>
            </a:avLst>
          </a:prstGeom>
          <a:solidFill>
            <a:srgbClr val="C62828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66928" y="38221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Custo: CRÍTICO — Irreversível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53128" y="2377440"/>
            <a:ext cx="603504" cy="530352"/>
          </a:xfrm>
          <a:prstGeom prst="ellipse">
            <a:avLst/>
          </a:prstGeom>
          <a:solidFill>
            <a:srgbClr val="151C2E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361688" y="2377440"/>
            <a:ext cx="786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</a:rPr>
              <a:t>VS</a:t>
            </a:r>
          </a:p>
        </p:txBody>
      </p:sp>
      <p:sp>
        <p:nvSpPr>
          <p:cNvPr id="15" name="Shape 13"/>
          <p:cNvSpPr/>
          <p:nvPr/>
        </p:nvSpPr>
        <p:spPr>
          <a:xfrm>
            <a:off x="5148072" y="1298448"/>
            <a:ext cx="3584448" cy="2926080"/>
          </a:xfrm>
          <a:prstGeom prst="roundRect">
            <a:avLst>
              <a:gd name="adj" fmla="val 3125"/>
            </a:avLst>
          </a:prstGeom>
          <a:solidFill>
            <a:srgbClr val="050D1A"/>
          </a:solidFill>
          <a:ln w="19050">
            <a:solidFill>
              <a:srgbClr val="1565C0"/>
            </a:solidFill>
            <a:prstDash val="solid"/>
          </a:ln>
          <a:effectLst>
            <a:outerShdw blurRad="1270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6" name="Text 14"/>
          <p:cNvSpPr/>
          <p:nvPr/>
        </p:nvSpPr>
        <p:spPr>
          <a:xfrm>
            <a:off x="5239512" y="141732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1565C0"/>
                </a:solidFill>
              </a:rPr>
              <a:t>FALSO POSITIVO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239512" y="175564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CA3AF"/>
                </a:solidFill>
              </a:rPr>
              <a:t>Alarme falso emitido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22392" y="212140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1D5DB"/>
                </a:solidFill>
              </a:rPr>
              <a:t>• Satélite em standby desnecessário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22392" y="251460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1D5DB"/>
                </a:solidFill>
              </a:rPr>
              <a:t>• Perda de dados temporária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22392" y="290779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1D5DB"/>
                </a:solidFill>
              </a:rPr>
              <a:t>• Rede descarregada preventivamente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22392" y="330098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1D5DB"/>
                </a:solidFill>
              </a:rPr>
              <a:t>• Custo operacional extra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22392" y="3822192"/>
            <a:ext cx="3154680" cy="292608"/>
          </a:xfrm>
          <a:prstGeom prst="roundRect">
            <a:avLst>
              <a:gd name="adj" fmla="val 15625"/>
            </a:avLst>
          </a:prstGeom>
          <a:solidFill>
            <a:srgbClr val="1565C0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422392" y="38221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Custo: MODERADO — Reversível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048" y="4251960"/>
            <a:ext cx="8375904" cy="713232"/>
          </a:xfrm>
          <a:prstGeom prst="roundRect">
            <a:avLst>
              <a:gd name="adj" fmla="val 10256"/>
            </a:avLst>
          </a:prstGeom>
          <a:solidFill>
            <a:srgbClr val="0F1E10"/>
          </a:solidFill>
          <a:ln w="19050">
            <a:solidFill>
              <a:srgbClr val="2E7D32"/>
            </a:solidFill>
            <a:prstDash val="solid"/>
          </a:ln>
          <a:effectLst>
            <a:outerShdw blurRad="1270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02920" y="427939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Resposta: FN é sempre mais grave — o threshold ideal não é 0.5, é o que minimiza o custo esperado.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CALIBRAÇÃO DO SISTEMA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threshold define o nível de proteção</a:t>
            </a:r>
            <a:endParaRPr lang="en-US" sz="2400" dirty="0"/>
          </a:p>
        </p:txBody>
      </p:sp>
      <p:pic>
        <p:nvPicPr>
          <p:cNvPr id="4" name="Image 0" descr="/home/claude/p8_thresh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298448"/>
            <a:ext cx="859536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" y="4462272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0D1525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384048" y="446227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65C0"/>
                </a:solidFill>
              </a:rPr>
              <a:t>Satélite Comercial  ·  FN = 8× FP  →  Thr: 0.28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218688" y="4462272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0D1525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3218688" y="446227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62828"/>
                </a:solidFill>
              </a:rPr>
              <a:t>Rede Elétrica  ·  FN = 10× FP  →  Thr: 0.22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053328" y="4462272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0D1525"/>
          </a:solidFill>
          <a:ln w="1905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053328" y="446227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A1B9A"/>
                </a:solidFill>
              </a:rPr>
              <a:t>GPS Militar  ·  FN = 5× FP  →  Thr: 0.35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70E">
              <a:alpha val="45000"/>
            </a:srgbClr>
          </a:solidFill>
          <a:ln w="12700">
            <a:solidFill>
              <a:srgbClr val="05070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E8611A"/>
                </a:solidFill>
              </a:rPr>
              <a:t>Conclusão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respostas. Uma ferramenta.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371600"/>
            <a:ext cx="8375904" cy="914400"/>
          </a:xfrm>
          <a:prstGeom prst="roundRect">
            <a:avLst>
              <a:gd name="adj" fmla="val 8000"/>
            </a:avLst>
          </a:prstGeom>
          <a:solidFill>
            <a:srgbClr val="0D1525"/>
          </a:solidFill>
          <a:ln w="19050">
            <a:solidFill>
              <a:srgbClr val="E8611A"/>
            </a:solidFill>
            <a:prstDash val="solid"/>
          </a:ln>
          <a:effectLst>
            <a:outerShdw blurRad="1270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6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4128" y="1444752"/>
            <a:ext cx="7607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O perfil existe e é legível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847088"/>
            <a:ext cx="7607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CA3AF"/>
                </a:solidFill>
              </a:rPr>
              <a:t>Zurich E/F + Área ≥ 3 = 82% de chance de flare. Qualquer operador pode usar.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2423160"/>
            <a:ext cx="8375904" cy="914400"/>
          </a:xfrm>
          <a:prstGeom prst="roundRect">
            <a:avLst>
              <a:gd name="adj" fmla="val 8000"/>
            </a:avLst>
          </a:prstGeom>
          <a:solidFill>
            <a:srgbClr val="0D1525"/>
          </a:solidFill>
          <a:ln w="19050">
            <a:solidFill>
              <a:srgbClr val="1565C0"/>
            </a:solidFill>
            <a:prstDash val="solid"/>
          </a:ln>
          <a:effectLst>
            <a:outerShdw blurRad="1270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4128" y="2496312"/>
            <a:ext cx="7607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A classe Zurich domina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898648"/>
            <a:ext cx="7607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CA3AF"/>
                </a:solidFill>
              </a:rPr>
              <a:t>Importância de 36% no Random Forest — alinhado com a física solar conhecida.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3474720"/>
            <a:ext cx="8375904" cy="914400"/>
          </a:xfrm>
          <a:prstGeom prst="roundRect">
            <a:avLst>
              <a:gd name="adj" fmla="val 8000"/>
            </a:avLst>
          </a:prstGeom>
          <a:solidFill>
            <a:srgbClr val="0D1525"/>
          </a:solidFill>
          <a:ln w="19050">
            <a:solidFill>
              <a:srgbClr val="2E7D32"/>
            </a:solidFill>
            <a:prstDash val="solid"/>
          </a:ln>
          <a:effectLst>
            <a:outerShdw blurRad="1270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347472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24128" y="3547872"/>
            <a:ext cx="7607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O threshold importa mais que o modelo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3950208"/>
            <a:ext cx="7607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CA3AF"/>
                </a:solidFill>
              </a:rPr>
              <a:t>Com custo assimétrico, threshold 0.28 protege mais do que F1 máximo com 0.5.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4818888"/>
            <a:ext cx="8375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</a:rPr>
              <a:t>UCI Solar Flare Dataset  ·  4 Modelos ML  ·  SMOTE + GridSearchCV  ·  Testes Estatísticos  ·  FIAP 2025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723</Words>
  <Application>Microsoft Office PowerPoint</Application>
  <PresentationFormat>Apresentação na tela (16:9)</PresentationFormat>
  <Paragraphs>133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 é o Perfil das Regiões Solares de Alto Risco?</dc:title>
  <dc:subject>PptxGenJS Presentation</dc:subject>
  <dc:creator>PptxGenJS</dc:creator>
  <cp:lastModifiedBy>Lucas Souza</cp:lastModifiedBy>
  <cp:revision>2</cp:revision>
  <dcterms:created xsi:type="dcterms:W3CDTF">2026-06-09T14:40:08Z</dcterms:created>
  <dcterms:modified xsi:type="dcterms:W3CDTF">2026-06-09T14:55:21Z</dcterms:modified>
</cp:coreProperties>
</file>